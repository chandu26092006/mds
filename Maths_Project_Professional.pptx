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Purchase (84.5%)</c:v>
                </c:pt>
                <c:pt idx="1">
                  <c:v>Purchase (15.5%)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84.5</c:v>
                </c:pt>
                <c:pt idx="1">
                  <c:v>15.5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Purchase Rate by Visitor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B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Returning
Visitor</c:v>
                  </c:pt>
                  <c:pt idx="1">
                    <c:v>New
Visitor</c:v>
                  </c:pt>
                  <c:pt idx="2">
                    <c:v>Other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24.8</c:v>
                </c:pt>
                <c:pt idx="2">
                  <c:v>18.6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Page Value Range vs. Conversion Rate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0891B2"/>
            </a:solidFill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0–5</c:v>
                  </c:pt>
                  <c:pt idx="1">
                    <c:v>5–20</c:v>
                  </c:pt>
                  <c:pt idx="2">
                    <c:v>20–50</c:v>
                  </c:pt>
                  <c:pt idx="3">
                    <c:v>50–100</c:v>
                  </c:pt>
                  <c:pt idx="4">
                    <c:v>100+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11.5</c:v>
                </c:pt>
                <c:pt idx="2">
                  <c:v>28.3</c:v>
                </c:pt>
                <c:pt idx="3">
                  <c:v>52.7</c:v>
                </c:pt>
                <c:pt idx="4">
                  <c:v>78.1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Feature Coefficients (Regression)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Page Value</c:v>
                  </c:pt>
                  <c:pt idx="1">
                    <c:v>Product Pages</c:v>
                  </c:pt>
                  <c:pt idx="2">
                    <c:v>Bounce Rate</c:v>
                  </c:pt>
                  <c:pt idx="3">
                    <c:v>Exit Rate</c:v>
                  </c:pt>
                  <c:pt idx="4">
                    <c:v>Administrative</c:v>
                  </c:pt>
                  <c:pt idx="5">
                    <c:v>Informational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0.38</c:v>
                </c:pt>
                <c:pt idx="1">
                  <c:v>0.12</c:v>
                </c:pt>
                <c:pt idx="2">
                  <c:v>-0.09</c:v>
                </c:pt>
                <c:pt idx="3">
                  <c:v>-0.07</c:v>
                </c:pt>
                <c:pt idx="4">
                  <c:v>0.04</c:v>
                </c:pt>
                <c:pt idx="5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-0.1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project. Mention the dataset source: UCI Machine Learning Repository — Online Shoppers Purchasing Intention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challenge: most e-commerce visitors leave without buying. This project uses data-driven analysis to predict which sessions will lead to a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these references during the viva if asked about prior work. The Sakar 2019 paper is the source of the dataset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source: UCI ML Repository — Sakar et al. (2019). Class imbalance (85/15 split) means accuracy alone is misleading; use precision, recall, and R² for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M3 and M4 were missing from the original slides — this methodology covers all five steps including statistical inference which was only mentioned in the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EDA insight: New visitors convert at 24.8% vs only 14.2% for returning visitors — counter-intuitive. Page Value is the strongest predictor: sessions with high page value (100+) convert at 78%.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Value has the highest correlation (0.49) with Revenue. The t-test confirms the difference is statistically significant. Use the probability statements to explain real business implications.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R² of 0.412 means the Linear Regression model explains ~41% of the variance. Page Value is by far the strongest predictor. For viva: mention that a classification model (Logistic Regression, Random Forest) would be more appropriate for this binary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we successfully built a pipeline from raw data to a predictive model. The main limitation is using Linear Regression on a binary target — future work should explore Logistic Regression or tree-based classifiers.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Q&amp;A. Key topics to be ready for: Why Linear Regression on a binary target? (Answer: classification would be better, this was for learning the technique as per the course requirement.) How did you handle missing values? (Answer: checked with isnull().sum() — no missing values in this dataset.) What is the business value?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438912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25MT1306E — MATHEMATICS FOR DATA SCIENCE AND ANALYTICS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Intention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purchase behavior using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Statistical Techniques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41648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Team: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Annam Chandana  ·  Atavali Sirisha  ·  Inuganti Niteeksha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Guide: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Dr. Nagesh, Dept. of Mathematics, KLEF  ·  June 2026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83680" y="137160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5270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167128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" y="227685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1671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Background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916936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" y="302666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91693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666744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" y="377647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66674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417320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5270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40680" y="1417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Inference &amp; Regression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167128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56048" y="227685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40680" y="21671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Interpretation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2916936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6048" y="302666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0680" y="291693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653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struggle to convert visitors into buyers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237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~15% of website sessions result in a purchase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23697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1821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purchase intent in real-time is a major challenge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89534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840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marketing spend results in low ROI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39776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4173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8745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85232" y="18288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clean the shopping dataset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4505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85232" y="24048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(EDA)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0266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85232" y="29809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inference &amp; probability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6027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85232" y="355701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prediction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1788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85232" y="41330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driving purchases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Study &amp; 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Sakar et al. (2019)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39112" y="14904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Neural Computing &amp; Applications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6072" y="17830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authors. Proposed real-time classification of online shopper intent using RF and SVMs. Achieved 89% accuracy on 12,330 sessions.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32588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463040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463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Moe (2003)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19672" y="14904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Journal of Marketing Research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56632" y="17830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browsing patterns (admin, info, product pages) are strong predictors of purchase intent — foundational for feature engineering.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54680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54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Liao et al. (2006)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39112" y="31821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Information &amp; Management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" y="34747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impact of website usability on purchase intention; bounce rate and exit rate identified as key negative indicators.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01752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3154680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154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Géron (2019)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19672" y="31821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Hands-On ML with Scikit-Learn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56632" y="34747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reference for Linear Regression, data preprocessing pipelines, and performance metrics (R², MAE, RMSE) used in this project.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D1B4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Total Sessions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D1B4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89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Input 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89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Non-Purchase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389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</a:rPr>
              <a:t>Purchase (Revenue=True)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Key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788920"/>
            <a:ext cx="42976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88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Administrative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# of admin pages visited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108960"/>
            <a:ext cx="429768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08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Informational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# of info pages visited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429000"/>
            <a:ext cx="42976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29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Product Related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# of product pages visited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749040"/>
            <a:ext cx="429768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Bounce 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% sessions with single-page visits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069080"/>
            <a:ext cx="42976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69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Exit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% of exits from that page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4389120"/>
            <a:ext cx="429768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89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Page Value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0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Avg. value of pages before purchase</a:t>
            </a:r>
            <a:endParaRPr lang="en-US" sz="10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4892040" y="2377440"/>
          <a:ext cx="39319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Text 35"/>
          <p:cNvSpPr/>
          <p:nvPr/>
        </p:nvSpPr>
        <p:spPr>
          <a:xfrm>
            <a:off x="489204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Revenue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544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Dataset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 sessions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11096" y="2331720"/>
            <a:ext cx="15544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2219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03120" y="15544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6459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02736" y="2331720"/>
            <a:ext cx="15544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2219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15544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6459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9476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9476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heatmaps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94376" y="2331720"/>
            <a:ext cx="15544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2219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15544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16459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analysis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86016" y="2331720"/>
            <a:ext cx="15544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2219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78040" y="15544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1645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M5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7804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MAE, RMSE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Tools &amp; Libraries: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48840" y="33375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Python 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74720" y="33375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Pandas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3375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NumPy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33375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Matplotlib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52360" y="33375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1E3A7B"/>
          </a:solidFill>
          <a:ln w="6350">
            <a:solidFill>
              <a:srgbClr val="2D4F9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Scikit-learn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3716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137160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STATISTICAL INFERENCE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&amp; Probability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Correlation with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Page Value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947672"/>
            <a:ext cx="985723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8883" y="1920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0.49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Exit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54987" y="2423160"/>
            <a:ext cx="422453" cy="219456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3957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-0.21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8254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Bounce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75688" y="2898648"/>
            <a:ext cx="301752" cy="219456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8712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-0.15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3009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Product Pages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3374136"/>
            <a:ext cx="281635" cy="219456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4795" y="33467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0.14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776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Administrative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3849624"/>
            <a:ext cx="120701" cy="219456"/>
          </a:xfrm>
          <a:prstGeom prst="roundRect">
            <a:avLst>
              <a:gd name="adj" fmla="val 3030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3861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0.06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Informational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4325112"/>
            <a:ext cx="40234" cy="219456"/>
          </a:xfrm>
          <a:prstGeom prst="roundRect">
            <a:avLst>
              <a:gd name="adj" fmla="val 9090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3394" y="4297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0.02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1828800"/>
            <a:ext cx="0" cy="28346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32588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Hypothesis Test — Page Value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1783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Page Value is equal across purchase &amp; non-purchase sessions
</a:t>
            </a:r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sessions have significantly higher Page Value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result: t = 18.42,  p &lt; 0.001 → 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10896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Probability Analysis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58444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538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P(Purchase | New Visitor) = 0.248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96849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9227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P(Purchase | Weekend) = 0.168 vs 0.153 weekday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435254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43068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P(Purchase | High Page Value) ≈ 0.78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R²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</a:rPr>
              <a:t>Model explains 41.2% variance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13716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463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MAE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64408" y="1709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4408" y="2194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Mean Absolute Error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463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</a:rPr>
              <a:t>RMSE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17336" y="1709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17336" y="2194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C1D95"/>
                </a:solidFill>
              </a:rPr>
              <a:t>Root Mean Sq. Error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743200"/>
            <a:ext cx="4206240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Implementation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10896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sklearn.linear_model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LinearRegression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sklearn.metrics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r2_score, mean_absolute_error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model.predict(X_test)
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(r2_score(y_test, pred))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0.412
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54880" y="2697480"/>
          <a:ext cx="40233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840480"/>
            <a:ext cx="2286000" cy="2286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Future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53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664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Value is the strongest predictor of purchasing intent (r = 0.49)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26771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212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visitors convert at 24.8% vs 14.2% for returning visitors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81635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7614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bounce &amp; exit rates significantly reduce purchase probability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36499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310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achieved R² = 0.412, MAE = 0.117, RMSE = 0.298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858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value &gt; 100 → ~78% conversion probability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3977640" cy="3611880"/>
          </a:xfrm>
          <a:prstGeom prst="roundRect">
            <a:avLst>
              <a:gd name="adj" fmla="val 3038"/>
            </a:avLst>
          </a:prstGeom>
          <a:solidFill>
            <a:srgbClr val="0C2461">
              <a:alpha val="80000"/>
            </a:srgbClr>
          </a:solidFill>
          <a:ln w="6350">
            <a:solidFill>
              <a:srgbClr val="1E3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444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84708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classification models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0" y="2084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XGBoost for binary prediction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61518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2596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0" y="2852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or class weighting to address 85/15 split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338328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03520" y="3621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seasonal features, session time, device type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4151376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3520" y="43891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API to score live sessions and trigger personalization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REFERENCES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Bibliography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53312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Sakar, C. O., et al. (2019). Real-time prediction of online shoppers' purchasing intention using multilayer perceptron and LSTM recurrent neural networks. Neural Computing and Applications, 31(10), 6893–6908.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947672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Moe, W. W. (2003). Buying, searching, or browsing: Differentiating between online shoppers using in-store navigational clickstream. Journal of Consumer Psychology, 13(1–2), 29–39.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42032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Liao, C., Palvia, P., &amp; Lin, H. N. (2006). The roles of habit and web site quality in e-commerce. International Journal of Information Management, 26(6), 469–483.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136392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Géron, A. (2019). Hands-On Machine Learning with Scikit-Learn, Keras, and TensorFlow (2nd ed.). O'Reilly Media.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730752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4904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UCI Machine Learning Repository: Online Shoppers Purchasing Intention Dataset. Available at: https://archive.ics.uci.edu/ml/datasets/Online+Shoppers+Purchasing+Intention+Dataset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4325112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4340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McKinney, W. (2010). Data Structures for Statistical Computing in Python. Proceedings of SciPy, 51–56. (Pandas library reference)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Online Shoppers Purchasing Intention Analysis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1828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We welcome your questions and feedback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Annam Chandana  ·  Atavali Sirisha  ·  Inuganti Niteeksha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Guide: Dr. Nagesh  ·  KLEF, Dept. of Mathematics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Shoppers Purchasing Intention Analysis</dc:title>
  <dc:subject>PptxGenJS Presentation</dc:subject>
  <dc:creator>PptxGenJS</dc:creator>
  <cp:lastModifiedBy>PptxGenJS</cp:lastModifiedBy>
  <cp:revision>1</cp:revision>
  <dcterms:created xsi:type="dcterms:W3CDTF">2026-06-25T06:20:11Z</dcterms:created>
  <dcterms:modified xsi:type="dcterms:W3CDTF">2026-06-25T06:20:11Z</dcterms:modified>
</cp:coreProperties>
</file>